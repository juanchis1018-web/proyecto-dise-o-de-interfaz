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701A9-CA46-A7F1-AAB0-5038736F9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PRESENTACIÓN UX – SISTEMA DE GESTIÓN ACADÉMICA</a:t>
            </a:r>
            <a:br>
              <a:rPr lang="es-ES" b="1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347880-DD96-F18E-D56E-B82A9A58F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b="1" dirty="0"/>
              <a:t>Sistema Web de Gestión Académica</a:t>
            </a:r>
            <a:br>
              <a:rPr lang="es-ES" dirty="0"/>
            </a:br>
            <a:r>
              <a:rPr lang="es-ES" dirty="0"/>
              <a:t>Evaluación de Experiencia de Usuario (UX)</a:t>
            </a:r>
          </a:p>
          <a:p>
            <a:r>
              <a:rPr lang="es-ES" b="1" dirty="0"/>
              <a:t>Juan Sebastian Muñoz Melo</a:t>
            </a:r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3547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5B490-4879-132D-F419-C5753FB3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RESUMEN EJECUTIVO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3D9781-772B-5D89-3052-9C3937931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Este proyecto consiste en el desarrollo de un sistema web para la gestión académica de estudiantes, el cual permite registrar estudiantes, asignar materias, gestionar notas por cortes y consultar reportes.</a:t>
            </a:r>
          </a:p>
          <a:p>
            <a:r>
              <a:rPr lang="es-ES" dirty="0"/>
              <a:t>El sistema fue evaluado desde el punto de vista de la experiencia de usuario (UX), analizando su facilidad de uso, eficiencia y cumplimiento de tareas.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78531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0CD51-66FC-CF0C-0D81-A8E302F0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LO QUE FUNCIONÓ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60197E-B348-7558-843E-BDDEAC7C2A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812471"/>
            <a:ext cx="644599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controlar el acceso correctamente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facilita la navegación entre módulos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registro de estudiantes es rápido e intuitivo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asignación de materias funciona correctamente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consulta por ID permite encontrar información fácilmente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sistema guarda datos usando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botones de navegación mejoran la experiencia </a:t>
            </a:r>
          </a:p>
        </p:txBody>
      </p:sp>
    </p:spTree>
    <p:extLst>
      <p:ext uri="{BB962C8B-B14F-4D97-AF65-F5344CB8AC3E}">
        <p14:creationId xmlns:p14="http://schemas.microsoft.com/office/powerpoint/2010/main" val="26458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738FD-9913-8F02-B870-CFE8C263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LO QUE NO FUNCIONÓ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323571-F862-ED7C-F982-EBACD2A509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3089470"/>
            <a:ext cx="603242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hay base de datos real (solo almacenamiento local)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hay validación avanzada en todos los campos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diseño aún puede mejorar en algunas páginas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hay sistema de usuarios reales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simulado)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Puede haber errores si se manipula el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076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713C5-C012-7E7D-B700-3D68460D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RECOMENDACIONES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6BB811-796E-224E-8C26-A154A1145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950971"/>
            <a:ext cx="525759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 base de datos (MySQL o Firebase)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Mejorar validaciones de formularios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Optimizar diseño responsive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Agregar autenticación real de usuarios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 roles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estudiante, docente)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Mejorar visualización de reportes (gráficas) </a:t>
            </a:r>
          </a:p>
        </p:txBody>
      </p:sp>
    </p:spTree>
    <p:extLst>
      <p:ext uri="{BB962C8B-B14F-4D97-AF65-F5344CB8AC3E}">
        <p14:creationId xmlns:p14="http://schemas.microsoft.com/office/powerpoint/2010/main" val="324741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7723C-E956-CA40-4A6C-FF30146E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PLANILLA DE MÉTRICAS (EFICIENCIA Y EFICACIA)</a:t>
            </a:r>
            <a:endParaRPr lang="es-C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A1F0E24-D339-F9D1-BF4D-E08B6022ED58}"/>
              </a:ext>
            </a:extLst>
          </p:cNvPr>
          <p:cNvGraphicFramePr>
            <a:graphicFrameLocks noGrp="1"/>
          </p:cNvGraphicFramePr>
          <p:nvPr/>
        </p:nvGraphicFramePr>
        <p:xfrm>
          <a:off x="1258430" y="2138361"/>
          <a:ext cx="8986165" cy="3656016"/>
        </p:xfrm>
        <a:graphic>
          <a:graphicData uri="http://schemas.openxmlformats.org/drawingml/2006/table">
            <a:tbl>
              <a:tblPr/>
              <a:tblGrid>
                <a:gridCol w="1797233">
                  <a:extLst>
                    <a:ext uri="{9D8B030D-6E8A-4147-A177-3AD203B41FA5}">
                      <a16:colId xmlns:a16="http://schemas.microsoft.com/office/drawing/2014/main" val="1277158423"/>
                    </a:ext>
                  </a:extLst>
                </a:gridCol>
                <a:gridCol w="1797233">
                  <a:extLst>
                    <a:ext uri="{9D8B030D-6E8A-4147-A177-3AD203B41FA5}">
                      <a16:colId xmlns:a16="http://schemas.microsoft.com/office/drawing/2014/main" val="541508834"/>
                    </a:ext>
                  </a:extLst>
                </a:gridCol>
                <a:gridCol w="1797233">
                  <a:extLst>
                    <a:ext uri="{9D8B030D-6E8A-4147-A177-3AD203B41FA5}">
                      <a16:colId xmlns:a16="http://schemas.microsoft.com/office/drawing/2014/main" val="993237792"/>
                    </a:ext>
                  </a:extLst>
                </a:gridCol>
                <a:gridCol w="1797233">
                  <a:extLst>
                    <a:ext uri="{9D8B030D-6E8A-4147-A177-3AD203B41FA5}">
                      <a16:colId xmlns:a16="http://schemas.microsoft.com/office/drawing/2014/main" val="940841823"/>
                    </a:ext>
                  </a:extLst>
                </a:gridCol>
                <a:gridCol w="1797233">
                  <a:extLst>
                    <a:ext uri="{9D8B030D-6E8A-4147-A177-3AD203B41FA5}">
                      <a16:colId xmlns:a16="http://schemas.microsoft.com/office/drawing/2014/main" val="1191576872"/>
                    </a:ext>
                  </a:extLst>
                </a:gridCol>
              </a:tblGrid>
              <a:tr h="32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Tarea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U1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U2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U3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Total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627985"/>
                  </a:ext>
                </a:extLst>
              </a:tr>
              <a:tr h="32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Iniciar sesión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3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2450"/>
                  </a:ext>
                </a:extLst>
              </a:tr>
              <a:tr h="567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Registrar estudiante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3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416776"/>
                  </a:ext>
                </a:extLst>
              </a:tr>
              <a:tr h="32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Editar estudiante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0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2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464076"/>
                  </a:ext>
                </a:extLst>
              </a:tr>
              <a:tr h="32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Eliminar estudiante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0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2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79278"/>
                  </a:ext>
                </a:extLst>
              </a:tr>
              <a:tr h="32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Asignar materias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0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2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018250"/>
                  </a:ext>
                </a:extLst>
              </a:tr>
              <a:tr h="324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Registrar notas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3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842515"/>
                  </a:ext>
                </a:extLst>
              </a:tr>
              <a:tr h="567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Consultar reporte por ID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3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705910"/>
                  </a:ext>
                </a:extLst>
              </a:tr>
              <a:tr h="567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Navegar entre páginas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/>
                        <a:t>1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/>
                        <a:t>3</a:t>
                      </a:r>
                    </a:p>
                  </a:txBody>
                  <a:tcPr marL="81104" marR="81104" marT="40552" marB="40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1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828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3D994-A917-B2FF-B35D-D80A4DB9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EVALUACIÓN HEURÍSTICA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A098455-4B3C-CC86-ADB7-083EB7313D08}"/>
              </a:ext>
            </a:extLst>
          </p:cNvPr>
          <p:cNvGraphicFramePr>
            <a:graphicFrameLocks noGrp="1"/>
          </p:cNvGraphicFramePr>
          <p:nvPr/>
        </p:nvGraphicFramePr>
        <p:xfrm>
          <a:off x="2640916" y="2141539"/>
          <a:ext cx="6221193" cy="3649660"/>
        </p:xfrm>
        <a:graphic>
          <a:graphicData uri="http://schemas.openxmlformats.org/drawingml/2006/table">
            <a:tbl>
              <a:tblPr/>
              <a:tblGrid>
                <a:gridCol w="2073731">
                  <a:extLst>
                    <a:ext uri="{9D8B030D-6E8A-4147-A177-3AD203B41FA5}">
                      <a16:colId xmlns:a16="http://schemas.microsoft.com/office/drawing/2014/main" val="3014657832"/>
                    </a:ext>
                  </a:extLst>
                </a:gridCol>
                <a:gridCol w="2073731">
                  <a:extLst>
                    <a:ext uri="{9D8B030D-6E8A-4147-A177-3AD203B41FA5}">
                      <a16:colId xmlns:a16="http://schemas.microsoft.com/office/drawing/2014/main" val="3902482788"/>
                    </a:ext>
                  </a:extLst>
                </a:gridCol>
                <a:gridCol w="2073731">
                  <a:extLst>
                    <a:ext uri="{9D8B030D-6E8A-4147-A177-3AD203B41FA5}">
                      <a16:colId xmlns:a16="http://schemas.microsoft.com/office/drawing/2014/main" val="2912404254"/>
                    </a:ext>
                  </a:extLst>
                </a:gridCol>
              </a:tblGrid>
              <a:tr h="224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Principio UX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Cumple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Detalle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709223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Visibilidad del estado del sistema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Sí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El sistema muestra resultados y cambios en pantalla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993297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Correspondencia con el mundo real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Sí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Usa términos como estudiante, materias, notas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747926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Control y libertad del usuario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Sí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Puede navegar y regresar al dashboard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717509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Consistencia y estándares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Sí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Botones y estructura similares en todas las páginas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537700"/>
                  </a:ext>
                </a:extLst>
              </a:tr>
              <a:tr h="224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Prevención de errores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Parcial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Algunas validaciones faltan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099764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Reconocimiento mejor que recuerdo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Sí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Menús y botones visibles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731597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Flexibilidad y eficiencia de uso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Sí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Usuarios avanzados navegan rápido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215800"/>
                  </a:ext>
                </a:extLst>
              </a:tr>
              <a:tr h="224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Diseño estético y minimalista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Parcial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Algunas vistas pueden mejorar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643999"/>
                  </a:ext>
                </a:extLst>
              </a:tr>
              <a:tr h="39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Ayuda a reconocer errores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No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No todos los errores se muestran claramente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692940"/>
                  </a:ext>
                </a:extLst>
              </a:tr>
              <a:tr h="224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Ayuda y documentación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/>
                        <a:t>No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dirty="0"/>
                        <a:t>No hay sección de ayuda</a:t>
                      </a:r>
                    </a:p>
                  </a:txBody>
                  <a:tcPr marL="56149" marR="56149" marT="28074" marB="28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080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5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76FE3-9427-4CAC-F735-4EEA0FCB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EFICIENCIA DEL SISTEMA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95ACF0-0880-1AFE-3E7B-38E1B6E4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891" y="2033392"/>
            <a:ext cx="5144218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33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1D58F-65B1-3363-77E6-DFEFD1ED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Percepción de dificultad del sistema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DD6596-B0D5-C210-0746-E67336981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Explicación:</a:t>
            </a:r>
          </a:p>
          <a:p>
            <a:r>
              <a:rPr lang="es-ES" dirty="0"/>
              <a:t>El 41.7% de los usuarios consideraron el sistema </a:t>
            </a:r>
            <a:r>
              <a:rPr lang="es-ES" b="1" dirty="0"/>
              <a:t>muy fácil</a:t>
            </a:r>
            <a:r>
              <a:rPr lang="es-ES" dirty="0"/>
              <a:t> </a:t>
            </a:r>
          </a:p>
          <a:p>
            <a:r>
              <a:rPr lang="es-ES" dirty="0"/>
              <a:t>El 33.3% lo consideraron </a:t>
            </a:r>
            <a:r>
              <a:rPr lang="es-ES" b="1" dirty="0"/>
              <a:t>fácil</a:t>
            </a:r>
            <a:r>
              <a:rPr lang="es-ES" dirty="0"/>
              <a:t> </a:t>
            </a:r>
          </a:p>
          <a:p>
            <a:r>
              <a:rPr lang="es-ES" dirty="0"/>
              <a:t>El 12.5% tuvo una percepción </a:t>
            </a:r>
            <a:r>
              <a:rPr lang="es-ES" b="1" dirty="0"/>
              <a:t>neutral</a:t>
            </a:r>
            <a:r>
              <a:rPr lang="es-ES" dirty="0"/>
              <a:t> </a:t>
            </a:r>
          </a:p>
          <a:p>
            <a:r>
              <a:rPr lang="es-ES" dirty="0"/>
              <a:t>Solo el 12.5% lo percibió como </a:t>
            </a:r>
            <a:r>
              <a:rPr lang="es-ES" b="1" dirty="0"/>
              <a:t>difícil o muy difícil</a:t>
            </a:r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53441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758F0-8721-3573-928E-636C26FC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Percepción de dificultad del sistema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DAB910-FCF5-95A1-BFD0-76024887632F}"/>
              </a:ext>
            </a:extLst>
          </p:cNvPr>
          <p:cNvSpPr txBox="1"/>
          <p:nvPr/>
        </p:nvSpPr>
        <p:spPr>
          <a:xfrm>
            <a:off x="685801" y="206586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mayoría de los usuarios percibieron el sistema como fácil de usar, lo cual indica que la interfaz es intuitiva y cumple con principios básicos de usabilidad. Solo un pequeño porcentaje presentó dificultades, lo que sugiere oportunidades de mejora en la experiencia de usuario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6D9C829-AC78-81AD-6D86-6BFE4AAA6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86" y="2065867"/>
            <a:ext cx="3848637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1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{6583E0FF-491F-4BB8-B594-E9EE509BAD9B}tf03457452</Template>
  <TotalTime>7</TotalTime>
  <Words>505</Words>
  <Application>Microsoft Office PowerPoint</Application>
  <PresentationFormat>Panorámica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PRESENTACIÓN UX – SISTEMA DE GESTIÓN ACADÉMICA </vt:lpstr>
      <vt:lpstr>RESUMEN EJECUTIVO</vt:lpstr>
      <vt:lpstr>LO QUE FUNCIONÓ</vt:lpstr>
      <vt:lpstr>LO QUE NO FUNCIONÓ</vt:lpstr>
      <vt:lpstr>RECOMENDACIONES</vt:lpstr>
      <vt:lpstr>PLANILLA DE MÉTRICAS (EFICIENCIA Y EFICACIA)</vt:lpstr>
      <vt:lpstr>EVALUACIÓN HEURÍSTICA</vt:lpstr>
      <vt:lpstr>EFICIENCIA DEL SISTEMA</vt:lpstr>
      <vt:lpstr>Percepción de dificultad del sistema</vt:lpstr>
      <vt:lpstr>Percepción de dificultad del sistema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Melo</dc:creator>
  <cp:lastModifiedBy>Juan Melo</cp:lastModifiedBy>
  <cp:revision>1</cp:revision>
  <dcterms:created xsi:type="dcterms:W3CDTF">2026-03-26T00:48:46Z</dcterms:created>
  <dcterms:modified xsi:type="dcterms:W3CDTF">2026-03-26T00:56:41Z</dcterms:modified>
</cp:coreProperties>
</file>